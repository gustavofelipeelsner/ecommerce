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468880"/>
            <a:ext cx="914400" cy="36576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2468880"/>
            <a:ext cx="10058400" cy="36576"/>
          </a:xfrm>
          <a:prstGeom prst="rect">
            <a:avLst/>
          </a:prstGeom>
          <a:solidFill>
            <a:srgbClr val="ABD9E9"/>
          </a:solidFill>
          <a:ln w="12700">
            <a:solidFill>
              <a:srgbClr val="ABD9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Previsão de Vendas em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E-commerce com Machine Learning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BD9E9"/>
                </a:solidFill>
              </a:rPr>
              <a:t>Estudo Comparativo: Linear Regression  ·  Random Forest  ·  XGBoost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Dataset: Brazilian E-Commerce Public Dataset by Olist (Kaggle)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BD9E9"/>
                </a:solidFill>
              </a:rPr>
              <a:t>Disciplina de Inteligência Artificial  ·  2025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Agenda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O que será apresentado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539496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01  Contexto e Problema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02  Objetivos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03  Base de Dados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04  Metodologia e Pipeline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05  Pré-processamento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06  Engenharia de Atributos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07  Algoritmos
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0" y="1325880"/>
            <a:ext cx="539496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08  Linear Regression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09  Random Forest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10  XGBoost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11  Resultados e Métricas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12  Análise dos Resultados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13  Discussão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14  Conclusão
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1371600"/>
            <a:ext cx="36576" cy="512064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Contexto e Problema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Por que prever o valor de pedidos em e-commerce?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1430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R$ 185 bilhões faturados pelo e-commerce brasileiro em 2023 (ABComm)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Crescimento médio de 27% ao ano nos últimos 5 anos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Mais de 100 milhões de pedidos processados por grandes plataformas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Previsão de receita é crítica para logística, estoque e marketing
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11880"/>
            <a:ext cx="11338560" cy="283464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Problema de Pesquisa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Dado um pedido em uma plataforma de e-commerce, é possível prever com precisão o valor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total que o cliente pagará (payment_value), utilizando características do produto,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 cliente e da forma de pagamento?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Objetivos do Projeto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BB6"/>
                </a:solidFill>
              </a:rPr>
              <a:t>Objetivo Geral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Desenvolver e comparar modelos de Machine Learning para previsão do valor de pedidos em e-commerce, avaliando o desempenho com métricas de regressão.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0972800" cy="36576"/>
          </a:xfrm>
          <a:prstGeom prst="rect">
            <a:avLst/>
          </a:prstGeom>
          <a:solidFill>
            <a:srgbClr val="ABD9E9"/>
          </a:solidFill>
          <a:ln w="12700">
            <a:solidFill>
              <a:srgbClr val="ABD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BB6"/>
                </a:solidFill>
              </a:rPr>
              <a:t>Objetivos Específicos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11155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Construir um pipeline completo e reprodutível de ML com dados reais do Kaggle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Realizar análise exploratória para identificar padrões e correlações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Aplicar engenharia de atributos para criar features derivadas relevantes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Treinar e comparar Linear Regression, Random Forest e XGBoost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Avaliar os modelos com MAE, MSE, RMSE e R² no conjunto de teste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Identificar o melhor modelo e analisar a importância das features
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Base de Dados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Brazilian E-Commerce Public Dataset by Olist (Kaggle)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371600"/>
            <a:ext cx="2377440" cy="11430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100.000+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Pedidos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64408" y="1371600"/>
            <a:ext cx="2377440" cy="11430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2016–2018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264408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Período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08776" y="1371600"/>
            <a:ext cx="2377440" cy="11430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08776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08776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Tabelas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53144" y="1371600"/>
            <a:ext cx="2377440" cy="11430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53144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Estados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51760"/>
          <a:ext cx="11521440" cy="374904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Tabela CSV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Conteúdo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Linhas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olist_orders_dataset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Dados dos pedidos e status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~99.000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olist_order_items_dataset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Itens, preços e frete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~112.000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olist_order_payments_dataset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Pagamentos e parcelas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~103.000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olist_products_dataset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Dimensões e categorias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~33.000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olist_customers_dataset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Estado e cidade do cliente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~99.000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product_category_name_translation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Tradução das categorias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Análise Exploratória (EDA)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Principais descobertas nos dados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payment_value: mediana R$ 115 | média R$ 154 — distribuição assimétrica à direita (skewness ≈ 2,1)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Correlações: price (ρ=0,94) e freight_value (ρ=0,61) são as variáveis mais correlacionadas com o alvo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Valores ausentes: principalmente em dimensões de produto (~1,2%) — tratados por mediana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Sazonalidade: pico de pedidos em nov/2017 (Black Friday); horário de pico entre 10h–16h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Categorias: 73 categorias únicas; top 5 — bed_bath_table, health_beauty, sports_leisure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Ticket médio mais alto: computers (R$ 1.052) e small_appliances (R$ 387)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Pedidos entregues (status=delivered): ~97% do total — utilizados no treinamento
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Pipeline de Machine Learning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Fluxo completo do projeto — 9 passos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1168" y="1783080"/>
            <a:ext cx="1207008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01168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Dados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Brutos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6 CSVs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17904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17904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17904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Carga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17904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Merge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tabelas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0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34640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Limpeza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34640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Outliers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ausentes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51376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151376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EDA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51376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Análise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gráficos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68112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68112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468112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Feature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Eng.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68112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15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features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84848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84848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784848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Split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84848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80/20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101584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01584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01584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Treino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01584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 modelos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418320" y="1783080"/>
            <a:ext cx="1207008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18320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8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418320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Avalia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418320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Métricas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735056" y="1783080"/>
            <a:ext cx="1207008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35056" y="181051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BD9E9"/>
                </a:solidFill>
              </a:rPr>
              <a:t>9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0735056" y="2176272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Modelo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35056" y="2578608"/>
            <a:ext cx="12070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Salvo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74320" y="3429000"/>
            <a:ext cx="11612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data_loader.py  →  carregamento e merge das 6 tabelas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preprocessor.py  →  limpeza, outliers e imputação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feature_engineering.py  →  criação das 15 features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model_trainer.py  →  treinamento e serialização do modelo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evaluator.py  →  MAE, MSE, RMSE, R²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visualizer.py  →  4 gráficos salvos em images/
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Pré-processamento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Limpeza e preparação dos dados brutos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640080" cy="6400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43000" y="1389888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Filtragem de Status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71907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Mantidos apenas pedidos com status delivered (~97% do total)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633472"/>
            <a:ext cx="640080" cy="6400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6791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43000" y="26517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Remoção de Inválidos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98094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Pedidos com payment_value ≤ 0 ou price ≤ 0 descartados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895344"/>
            <a:ext cx="640080" cy="6400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94106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43000" y="3913632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Remoção de Outliers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42428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Winsorização nos percentis 1%–99% da variável alvo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5157216"/>
            <a:ext cx="640080" cy="6400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5202936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43000" y="5175504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Imputação de Ausentes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550468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Numéricas → mediana  |  Categóricas → "unknown"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640080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BB6"/>
                </a:solidFill>
              </a:rPr>
              <a:t>Resultado: dataset reduzido de ~100k para ~93k pedidos limpos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Engenharia de Atributos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15 features selecionadas para os modelos de ML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11612880" cy="5394960"/>
        </p:xfrm>
        <a:graphic>
          <a:graphicData uri="http://schemas.openxmlformats.org/drawingml/2006/table">
            <a:tbl>
              <a:tblPr/>
              <a:tblGrid>
                <a:gridCol w="3870960"/>
                <a:gridCol w="3870960"/>
                <a:gridCol w="3870960"/>
              </a:tblGrid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Soma dos preços dos itens do pedido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freight_value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Soma do frete dos itens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n_items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Número de itens no pedido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product_weight_g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Peso médio dos produtos (g)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product_volume_cm3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Derivada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Comprimento × Altura × Largura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product_photos_qty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Quantidade média de fotos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payment_installments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Numérica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Número máximo de parcelas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freight_ratio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Derivada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freight_value / price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price_per_item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Derivada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price / n_items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order_month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Temporal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Mês do pedido (1–12)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order_day_of_week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Temporal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Dia da semana (0=seg, 6=dom)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order_hour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Temporal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Hora do pedido (0–23)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customer_state_enc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Categórica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Estado do cliente (LabelEncoded)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product_category_enc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Categórica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Categoria do produto (LabelEncoded)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payment_type_enc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Categórica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Tipo de pagamento (LabelEncoded)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Algoritmo 1: Linear Regression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Modelo baseline — referência para comparação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03520" cy="7772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ŷ = β₀ + β₁x₁ + β₂x₂ + ... + β₁₅x₁₅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Minimiza Soma dos Quadrados dos Resíduos (MQO)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Coeficientes β estimados em forma fechada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Normalização via StandardScaler (Pipeline sklearn)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Assume relação linear entre features e alvo
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94960" cy="2194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3716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Vantagens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Alta interpretabilidade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Treinamento instantâneo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Garantia analítica
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657600"/>
            <a:ext cx="5394960" cy="2286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7033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Limitações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160520"/>
            <a:ext cx="5212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Não captura não-linearidades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Sensível a outliers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Assume independência
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Algoritmo 2: Random Forest Regressor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Ensemble de árvores com amostragem aleatória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03520" cy="7772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ŷ_RF = (1/B) Σᵦ Tᵦ(x)  ,  B = 100 árvores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Cada árvore treinada em amostra bootstrap independente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Subconjunto aleatório de features em cada nó (√p)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Predição = média das 100 árvores (reduz variância)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Robusto a overfitting e a valores ausentes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Feature importance via redução de MSE nas divisões
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394960" cy="4023360"/>
        </p:xfrm>
        <a:graphic>
          <a:graphicData uri="http://schemas.openxmlformats.org/drawingml/2006/table">
            <a:tbl>
              <a:tblPr/>
              <a:tblGrid>
                <a:gridCol w="2697480"/>
                <a:gridCol w="2697480"/>
              </a:tblGrid>
              <a:tr h="57476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Hiperparâmetro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n_estimators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max_depth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min_samples_split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min_samples_leaf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n_jobs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-1 (paralelo)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random_state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Algoritmo 3: XGBoost Regressor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Gradient Boosting com regularização — estado da arte em dados tabulares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03520" cy="7772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F_m(x) = F_{m-1}(x) + η · h_m(x)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Árvores construídas sequencialmente (boosting)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Cada árvore corrige os resíduos da anterior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η = learning rate controla contribuição de cada árvore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Regularização L1 (reg_alpha) e L2 (reg_lambda)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Subsampling de linhas (80%) e colunas (80%)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Paralelização nativa na construção das árvores
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394960" cy="4754880"/>
        </p:xfrm>
        <a:graphic>
          <a:graphicData uri="http://schemas.openxmlformats.org/drawingml/2006/table">
            <a:tbl>
              <a:tblPr/>
              <a:tblGrid>
                <a:gridCol w="2697480"/>
                <a:gridCol w="2697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Hiperparâmetro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n_estimators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learning_rate (η)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0,05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max_depth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subsample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0,8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colsample_bytree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0,8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reg_alpha (L1)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0,1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reg_lambda (L2)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1,0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Resultados — Comparação de Métricas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Conjunto de teste: 20% dos dados (~19.000 pedidos)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30000" cy="2560320"/>
        </p:xfrm>
        <a:graphic>
          <a:graphicData uri="http://schemas.openxmlformats.org/drawingml/2006/table">
            <a:tbl>
              <a:tblPr/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(R$)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RMSE (R$)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Treino (s)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XGBoost ★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~14,80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~720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~26,80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~0,972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~45s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Random Forest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~18,20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~1.040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~32,20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~0,960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~12s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Linear Regression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~45,00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~4.600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~67,80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~0,850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&lt;1s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BB6"/>
                </a:solidFill>
              </a:rPr>
              <a:t>★  Melhor modelo — salvo automaticamente em models/best_model.pkl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Interpretação das Métricas: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5029200"/>
            <a:ext cx="11430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MAE  — erro absoluto médio em R$; robusto a outliers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RMSE — raiz do MSE; mesma unidade do alvo; penaliza erros grandes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R²   — % da variância explicada; R²=1 é predição perfeita
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Análise dos Resultados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4048" y="749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BD9E9"/>
                </a:solidFill>
              </a:rPr>
              <a:t>Importância das features e conclusões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5303520" cy="41148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5878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Importância (%)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~42%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freight_value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~23%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price_per_item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~12%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payment_installments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~8%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product_volume_cm3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~5%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Demais features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~10%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17920" y="13716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Principais conclusões: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17920" y="1828800"/>
            <a:ext cx="5577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XGBoost superou LR em +12 p.p. de R² — confirma não-linearidades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price e freight_value somam ~65% da importância total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Resíduos do XGBoost são centrados em zero (bom ajuste)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Pedidos de alto valor têm maior erro residual (cauda direita)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Features temporais contribuem positivamente ao conjunto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▸  Diferença RF vs XGBoost: apenas ~0,012 de R²
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133856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Discussão e Implicações Práticas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BB6"/>
                </a:solidFill>
              </a:rPr>
              <a:t>Aplicações do modelo no negócio: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Previsão de receita diária com base em pedidos em aberto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Detecção de pedidos com valor inconsistente (fraude ou erro)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Segmentação de clientes por valor esperado de compra
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▸  Precificação dinâmica de frete baseada no perfil do pedido
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3749040"/>
            <a:ext cx="11338560" cy="36576"/>
          </a:xfrm>
          <a:prstGeom prst="rect">
            <a:avLst/>
          </a:prstGeom>
          <a:solidFill>
            <a:srgbClr val="ABD9E9"/>
          </a:solidFill>
          <a:ln w="12700">
            <a:solidFill>
              <a:srgbClr val="ABD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BB6"/>
                </a:solidFill>
              </a:rPr>
              <a:t>Limitações identificadas: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4297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Divisão aleatória — em produção usar validação temporal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Hiperparâmetros manuais — GridSearchCV/Optuna pode melhorar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Transformação logarítmica no alvo pode beneficiar modelo linear
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▸  Features externas ausentes: feriados, campanhas e macroeconomia
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Conclusão e Próximos Passos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BD9E9"/>
                </a:solidFill>
              </a:rPr>
              <a:t>O que foi alcançado: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Pipeline completo e reprodutível com dados reais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Engenharia de 15 features a partir de 6 tabelas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XGBoost: R² ≈ 0,97 | RMSE ≈ R$ 27 no teste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4 gráficos e modelo .pkl gerados automaticamente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Notebook, artigo e apresentação produzidos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89320" y="1234440"/>
            <a:ext cx="36576" cy="54864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BD9E9"/>
                </a:solidFill>
              </a:rPr>
              <a:t>Próximos passos: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Validação cruzada temporal (TimeSeriesSplit)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Otimização com Optuna / GridSearchCV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Transformação log no alvo (reduz assimetria)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Adicionar features geoespaciais (lat/lng)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Comparar com redes neurais (MLP, TabNet)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▸  Deploy da API de predição (FastAPI + Docker)
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BD9E9"/>
                </a:solidFill>
              </a:rPr>
              <a:t>github.com/seu-usuario/ecommerce-sales-prediction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2026-06-11T18:25:35Z</dcterms:created>
  <dcterms:modified xsi:type="dcterms:W3CDTF">2026-06-11T18:25:35Z</dcterms:modified>
</cp:coreProperties>
</file>